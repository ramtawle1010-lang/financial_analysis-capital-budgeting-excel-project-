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  <ns0:embeddedFont>
      <ns0:font typeface="Space Grotesk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37e965f2-58ad-4a10-b70d-8c7f78e2c343.fntdata" /><ns0:Relationship Id="rIdFont16" Type="http://schemas.openxmlformats.org/officeDocument/2006/relationships/font" Target="fonts/db252279-2196-42a2-95ce-5f1f5787537d.fntdata" /><ns0:Relationship Id="rIdFont17" Type="http://schemas.openxmlformats.org/officeDocument/2006/relationships/font" Target="fonts/ba6db1bc-3cb7-4adb-ac73-e23cff2533a3.fntdata" /><ns0:Relationship Id="rIdFont18" Type="http://schemas.openxmlformats.org/officeDocument/2006/relationships/font" Target="fonts/6b357405-b747-4646-a81b-79424472a0d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562600"/>
            <a:ext cx="10668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489102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56260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695325"/>
            <a:ext cx="17145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9762" y="695325"/>
            <a:ext cx="237529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Space Grotesk"/>
              </a:rPr>
              <a:t>PROJECT DELIVERABLE //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987897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CORPORATE TREASURY &amp; ADVISORY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359372"/>
            <a:ext cx="99012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Financial Analysis &amp; Capital Budgeting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89002"/>
            <a:ext cx="7334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Quantitative evaluation of loan amortization schedules, timing-adjusted discounting, and capital budgeting paradoxes in Excel.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681037"/>
            <a:ext cx="3286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Space Grotesk"/>
              </a:rPr>
              <a:t>COACHX OLIVE FINANCIAL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838825"/>
            <a:ext cx="1690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029325"/>
            <a:ext cx="1690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Plus Jakarta Sans"/>
              </a:rPr>
              <a:t>Financial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0925" y="5857875"/>
            <a:ext cx="2238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0925" y="6048375"/>
            <a:ext cx="2238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Excel Financial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72625" y="5857875"/>
            <a:ext cx="2321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2625" y="6048375"/>
            <a:ext cx="2321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2C55E"/>
                </a:solidFill>
                <a:latin typeface="Plus Jakarta Sans"/>
              </a:rPr>
              <a:t>Completed &amp; Reconciled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38825"/>
            <a:ext cx="10668000" cy="485775"/>
          </a:xfrm>
          <a:prstGeom prst="roundRect">
            <a:avLst>
              <a:gd name="adj" fmla="val 1960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290762"/>
            <a:ext cx="3403550" cy="2486025"/>
          </a:xfrm>
          <a:prstGeom prst="roundRect">
            <a:avLst>
              <a:gd name="adj" fmla="val 53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290762"/>
            <a:ext cx="3403550" cy="2486025"/>
          </a:xfrm>
          <a:prstGeom prst="roundRect">
            <a:avLst>
              <a:gd name="adj" fmla="val 53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183606"/>
            <a:ext cx="3403550" cy="2700337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8225" y="4186237"/>
            <a:ext cx="1228725" cy="276225"/>
          </a:xfrm>
          <a:prstGeom prst="roundRect">
            <a:avLst>
              <a:gd name="adj" fmla="val 2068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70375" y="4186237"/>
            <a:ext cx="1323975" cy="276225"/>
          </a:xfrm>
          <a:prstGeom prst="roundRect">
            <a:avLst>
              <a:gd name="adj" fmla="val 2068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02525" y="4293393"/>
            <a:ext cx="1409700" cy="276225"/>
          </a:xfrm>
          <a:prstGeom prst="roundRect">
            <a:avLst>
              <a:gd name="adj" fmla="val 2068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60508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2605087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2497931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862" y="2728912"/>
            <a:ext cx="1619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200" y="2728912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7775" y="2621756"/>
            <a:ext cx="26670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33400"/>
            <a:ext cx="1076325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Executive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Project Scope &amp; Core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5991225"/>
            <a:ext cx="7631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Plus Jakarta Sans"/>
              </a:rPr>
              <a:t>Methodological rigor ensures models withstand enterprise capital budgeting standards.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7875" y="5995987"/>
            <a:ext cx="1916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100% EXCEL COMPLIANT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3214687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Time Value of 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225" y="3605212"/>
            <a:ext cx="294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Evaluates purchasing cash flows and payment timing across annuity options.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4243387"/>
            <a:ext cx="10953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Space Grotesk"/>
              </a:rPr>
              <a:t>PV &amp; PMT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0375" y="3214687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Amortization Schedules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0375" y="3605212"/>
            <a:ext cx="294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Deconstructs equal monthly installments into precise principal and interest legs.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4675" y="4243387"/>
            <a:ext cx="11906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Space Grotesk"/>
              </a:rPr>
              <a:t>IPMT &amp; PPMT Math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525" y="3107531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Discounted Cash 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525" y="3498056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Appraises capital projects across irregular schedules, scale gaps, and multiple roots.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6825" y="4350543"/>
            <a:ext cx="12763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333EA"/>
                </a:solidFill>
                <a:latin typeface="Space Grotesk"/>
              </a:rPr>
              <a:t>NPV vs IRR Conflicts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15025"/>
            <a:ext cx="10668000" cy="4095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05087"/>
            <a:ext cx="314325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10050" y="2243137"/>
            <a:ext cx="3771900" cy="2657475"/>
          </a:xfrm>
          <a:prstGeom prst="roundRect">
            <a:avLst>
              <a:gd name="adj" fmla="val 5017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86750" y="2476500"/>
            <a:ext cx="3143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915025"/>
            <a:ext cx="38100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33987" y="2576512"/>
            <a:ext cx="1724025" cy="2190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076325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Time Value of Money in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Present Value &amp; Consumer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693" y="2871787"/>
            <a:ext cx="3471862" cy="1400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Option 1: Upfront Purchase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262" y="2547937"/>
            <a:ext cx="4181475" cy="2047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40AF"/>
                </a:solidFill>
                <a:latin typeface="Plus Jakarta Sans"/>
              </a:rPr>
              <a:t>Option 2: 8-Yr End Installments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2443" y="2743200"/>
            <a:ext cx="3471862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Option 3: 8-Yr Beg. Installments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6029325"/>
            <a:ext cx="11201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Core Finding: Delaying recurring cash installments to period-end reduces present liability when borrowing rate (13%) exceeds investment yield.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3233737"/>
            <a:ext cx="333375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0F172A"/>
                </a:solidFill>
                <a:latin typeface="Space Grotesk"/>
              </a:rPr>
              <a:t>₹32,000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919537"/>
            <a:ext cx="3333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Immediate lump-sum cash outflow required at point of purchase.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2784" y="2614612"/>
            <a:ext cx="192643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Plus Jakarta Sans"/>
              </a:rPr>
              <a:t>MOST COST EFFECTIVE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5750" y="3214687"/>
            <a:ext cx="4000500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1D4ED8"/>
                </a:solidFill>
                <a:latin typeface="Space Grotesk"/>
              </a:rPr>
              <a:t>₹28,793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0" y="3976687"/>
            <a:ext cx="4000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1E3A8A"/>
                </a:solidFill>
                <a:latin typeface="Plus Jakarta Sans"/>
              </a:rPr>
              <a:t>=PV(13%, 8, -6000)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0" y="4233862"/>
            <a:ext cx="400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B82F6"/>
                </a:solidFill>
                <a:latin typeface="Plus Jakarta Sans"/>
              </a:rPr>
              <a:t>Saves ₹3,207 in present real purchasing power compared to upfront cost.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3105150"/>
            <a:ext cx="333375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DC2626"/>
                </a:solidFill>
                <a:latin typeface="Space Grotesk"/>
              </a:rPr>
              <a:t>₹32,536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0" y="3790950"/>
            <a:ext cx="3333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DC2626"/>
                </a:solidFill>
                <a:latin typeface="Plus Jakarta Sans"/>
              </a:rPr>
              <a:t>=PV(13%, 8, -6000, , 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0" y="4048125"/>
            <a:ext cx="3333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Highest cost due to loss of compounding period for upfront payments.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166937"/>
            <a:ext cx="10668000" cy="2371725"/>
          </a:xfrm>
          <a:prstGeom prst="roundRect">
            <a:avLst>
              <a:gd name="adj" fmla="val 4819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5529262"/>
            <a:ext cx="3050232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40832" y="5529262"/>
            <a:ext cx="3050232" cy="742950"/>
          </a:xfrm>
          <a:prstGeom prst="roundRect">
            <a:avLst>
              <a:gd name="adj" fmla="val 128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9664" y="5476875"/>
            <a:ext cx="4110335" cy="847725"/>
          </a:xfrm>
          <a:prstGeom prst="roundRect">
            <a:avLst>
              <a:gd name="adj" fmla="val 1123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332" y="5805487"/>
            <a:ext cx="1428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539" y="5805487"/>
            <a:ext cx="190500" cy="1905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1525" y="2176462"/>
          <a:ext cx="10648947" cy="23526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214586"/>
                <a:gridCol w="2213371"/>
                <a:gridCol w="1471017"/>
                <a:gridCol w="1849040"/>
                <a:gridCol w="1983878"/>
                <a:gridCol w="1917055"/>
              </a:tblGrid>
              <a:tr h="39211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Space Grotesk"/>
                        </a:rPr>
                        <a:t>Month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Space Grotesk"/>
                        </a:rPr>
                        <a:t>Beginning Balance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Space Grotesk"/>
                        </a:rPr>
                        <a:t>Fixed EMI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Space Grotesk"/>
                        </a:rPr>
                        <a:t>Interest (IPMT)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Space Grotesk"/>
                        </a:rPr>
                        <a:t>Principal (PPMT)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FFFFFF"/>
                          </a:solidFill>
                          <a:latin typeface="Space Grotesk"/>
                        </a:rPr>
                        <a:t>Ending Balance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9211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Month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₹100,000.00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₹13,242.27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₹1,300.00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₹11,942.27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₹88,057.73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211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Month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₹88,057.73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₹13,242.27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₹1,144.75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₹12,097.52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₹75,960.22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9211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Month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₹75,960.22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₹13,242.27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₹987.48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₹12,254.78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₹63,705.43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211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Month 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₹38,715.86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₹13,242.27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₹503.31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₹12,738.96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₹25,976.89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9211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Month 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₹13,072.33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₹13,242.27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₹169.94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₹13,072.33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₹0.00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2000" y="533400"/>
            <a:ext cx="601980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Debt 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0" y="685800"/>
            <a:ext cx="21336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64748B"/>
                </a:solidFill>
                <a:latin typeface="Plus Jakarta Sans"/>
              </a:rPr>
              <a:t>Monthly Repayment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0164" y="5629275"/>
            <a:ext cx="382458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Plus Jakarta Sans"/>
              </a:rPr>
              <a:t>Structural 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90575"/>
            <a:ext cx="7775971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Loan Amortization &amp; EMI Breakdown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2062" y="885825"/>
            <a:ext cx="25479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2100" i="0" u="none">
                <a:solidFill>
                  <a:srgbClr val="2563EB"/>
                </a:solidFill>
                <a:latin typeface="Space Grotesk"/>
              </a:rPr>
              <a:t>₹13,242.27 /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5691187"/>
            <a:ext cx="151447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CUMIPMT (Months 2–3)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0857" y="5691187"/>
            <a:ext cx="159067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CUMPRINC (Months 2–3)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9689" y="5857875"/>
            <a:ext cx="380553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40AF"/>
                </a:solidFill>
                <a:latin typeface="Plus Jakarta Sans"/>
              </a:rPr>
              <a:t>Interest declines by 87% over term while principal share expands proportionately.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5891212"/>
            <a:ext cx="1774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Plus Jakarta Sans"/>
              </a:rPr>
              <a:t>₹2,132.23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0857" y="5891212"/>
            <a:ext cx="18692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Plus Jakarta Sans"/>
              </a:rPr>
              <a:t>₹24,352.30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76925"/>
            <a:ext cx="1066800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457325"/>
            <a:ext cx="5623173" cy="4191000"/>
          </a:xfrm>
          <a:prstGeom prst="roundRect">
            <a:avLst>
              <a:gd name="adj" fmla="val 3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51873" y="1457325"/>
            <a:ext cx="4778126" cy="4191000"/>
          </a:xfrm>
          <a:prstGeom prst="roundRect">
            <a:avLst>
              <a:gd name="adj" fmla="val 3181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28098" y="3005137"/>
            <a:ext cx="4225676" cy="1819275"/>
          </a:xfrm>
          <a:prstGeom prst="roundRect">
            <a:avLst>
              <a:gd name="adj" fmla="val 5235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8225" y="2562225"/>
            <a:ext cx="5070723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8225" y="3362325"/>
            <a:ext cx="5070723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8225" y="4162425"/>
            <a:ext cx="5070723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28123" y="3919537"/>
            <a:ext cx="38256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076325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Discounted Cash Flow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5991225"/>
            <a:ext cx="103822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Key Takeaway: Total nominal cash flow was higher for Inv 1 (₹8k vs ₹7k), yet Inv 2 generates higher economic value under all discount assumptions.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NPV Timing Sensitivities &amp; Irregular Schedules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733550"/>
            <a:ext cx="51659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Timing Convention Matrix (r = 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5219700"/>
            <a:ext cx="633840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Inv 2 outperforms because heavy negative outflows occur in later periods.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8098" y="1733550"/>
            <a:ext cx="4320926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D4ED8"/>
                </a:solidFill>
                <a:latin typeface="Plus Jakarta Sans"/>
              </a:rPr>
              <a:t>Actual Calender Irregularity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598" y="3195637"/>
            <a:ext cx="3939926" cy="1438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Base Schedule (June 2016 Start)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8098" y="5219700"/>
            <a:ext cx="526390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40AF"/>
                </a:solidFill>
                <a:latin typeface="Plus Jakarta Sans"/>
              </a:rPr>
              <a:t>XNPV discounts using actual day intervals, preventing periodic bias.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1971675"/>
            <a:ext cx="665532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Investment 1 vs. Investment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8098" y="1971675"/>
            <a:ext cx="526390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XNPV Precision 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8098" y="2266950"/>
            <a:ext cx="432092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Periodic NPV creates distortion when cash occurs irregularly across 2016–2017.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8123" y="3405187"/>
            <a:ext cx="478203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₹17,523.65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8123" y="4033837"/>
            <a:ext cx="3920876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Discounted to Today (15-Mar-2015)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7348" y="2705100"/>
            <a:ext cx="12287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Inv 1: ₹4,976.85</a:t>
            </a:r>
            <a:r>
              <a:t>
</a:t>
            </a:r>
            <a:r>
              <a:rPr b="1" sz="1125" i="0" u="none">
                <a:solidFill>
                  <a:srgbClr val="2563EB"/>
                </a:solidFill>
                <a:latin typeface="Plus Jakarta Sans"/>
              </a:rPr>
              <a:t>Inv 2: ₹5,092.59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8323" y="3505200"/>
            <a:ext cx="1047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Inv 1: ₹5,972.22</a:t>
            </a:r>
            <a:r>
              <a:t>
</a:t>
            </a:r>
            <a:r>
              <a:rPr b="1" sz="1125" i="0" u="none">
                <a:solidFill>
                  <a:srgbClr val="2563EB"/>
                </a:solidFill>
                <a:latin typeface="Plus Jakarta Sans"/>
              </a:rPr>
              <a:t>Inv 2: ₹6,111.11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5923" y="4305300"/>
            <a:ext cx="120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Inv 1: ₹5,451.87</a:t>
            </a:r>
            <a:r>
              <a:t>
</a:t>
            </a:r>
            <a:r>
              <a:rPr b="1" sz="1125" i="0" u="none">
                <a:solidFill>
                  <a:srgbClr val="2563EB"/>
                </a:solidFill>
                <a:latin typeface="Plus Jakarta Sans"/>
              </a:rPr>
              <a:t>Inv 2: ₹5,578.66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8123" y="4243387"/>
            <a:ext cx="478203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2563EB"/>
                </a:solidFill>
                <a:latin typeface="Space Grotesk"/>
              </a:rPr>
              <a:t>₹13,940.18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100" y="2747962"/>
            <a:ext cx="1750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End-Year Discounting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1100" y="2919412"/>
            <a:ext cx="17502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Standard =NPV() function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1100" y="3548062"/>
            <a:ext cx="2214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Beginning-Year Discounting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1100" y="3719512"/>
            <a:ext cx="2214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=C5 + NPV(r, C6:C7)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100" y="4348162"/>
            <a:ext cx="1702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Mid-Year Convention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1100" y="4519612"/>
            <a:ext cx="1702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=SQRT(1+r) * NPV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86450"/>
            <a:ext cx="10668000" cy="438150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076450"/>
            <a:ext cx="3403550" cy="2962275"/>
          </a:xfrm>
          <a:prstGeom prst="roundRect">
            <a:avLst>
              <a:gd name="adj" fmla="val 38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052637"/>
            <a:ext cx="3403550" cy="3009900"/>
          </a:xfrm>
          <a:prstGeom prst="roundRect">
            <a:avLst>
              <a:gd name="adj" fmla="val 37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081212"/>
            <a:ext cx="3403550" cy="2952750"/>
          </a:xfrm>
          <a:prstGeom prst="roundRect">
            <a:avLst>
              <a:gd name="adj" fmla="val 38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175" y="3714750"/>
            <a:ext cx="28892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51325" y="3690937"/>
            <a:ext cx="2889200" cy="847725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83475" y="3719512"/>
            <a:ext cx="2889200" cy="790575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233362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325" y="2309812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475" y="2338387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" y="2438400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100" y="2414587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250" y="2443162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33400"/>
            <a:ext cx="1076325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Capital Budgeting Paradox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IRR Pitfalls &amp; The Mutual Exclusivity Conflict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6019800"/>
            <a:ext cx="6727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Plus Jakarta Sans"/>
              </a:rPr>
              <a:t>Golden Rule: In mutually exclusive corporate decisions, NPV must always override IRR.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67900" y="6029325"/>
            <a:ext cx="1714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FINANCIAL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175" y="2828925"/>
            <a:ext cx="37920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Scale Disparity Dilemma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5" y="3162300"/>
            <a:ext cx="2984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Project B gives 50% IRR on ₹100; Project A gives 10% on ₹1,000.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475" y="3829050"/>
            <a:ext cx="27558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Absolute Wealth Gain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75" y="4476750"/>
            <a:ext cx="2984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IRR ignores dollar scale; NPV reflects real wealth.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1325" y="2805112"/>
            <a:ext cx="37920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Cash Flow Timing Mismatch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1325" y="3138487"/>
            <a:ext cx="2984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Project A generates back-loaded returns; Project B generates front-loaded gains.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5625" y="3805237"/>
            <a:ext cx="27558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Ranking Inversion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1325" y="4652962"/>
            <a:ext cx="361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Always execute highest NPV project.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3475" y="2833687"/>
            <a:ext cx="37920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Multiple or Zero Roots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3475" y="3167062"/>
            <a:ext cx="2984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Unconventional sign shifts (+ / - reversals) violate polynomial uniqueness.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7775" y="3833812"/>
            <a:ext cx="27558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Workbook Observation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3475" y="4624387"/>
            <a:ext cx="361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Descartes' Rule dictates root multiplicity.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038600"/>
            <a:ext cx="3301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A: ₹100 profit vs. B: ₹50 profit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5150" y="4014787"/>
            <a:ext cx="3301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IRR picks B (20% &gt; 17%)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5150" y="4214812"/>
            <a:ext cx="3301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NPV picks A (₹815.89 &gt; ₹552.40)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7300" y="4043362"/>
            <a:ext cx="3301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333EA"/>
                </a:solidFill>
                <a:latin typeface="Plus Jakarta Sans"/>
              </a:rPr>
              <a:t>Roots: -9.59% &amp; 216.09%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7300" y="4214812"/>
            <a:ext cx="3301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Other cases: #NUM! (No real root)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95975"/>
            <a:ext cx="10668000" cy="428625"/>
          </a:xfrm>
          <a:prstGeom prst="roundRect">
            <a:avLst>
              <a:gd name="adj" fmla="val 1777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457325"/>
            <a:ext cx="5181600" cy="4210050"/>
          </a:xfrm>
          <a:prstGeom prst="roundRect">
            <a:avLst>
              <a:gd name="adj" fmla="val 31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457325"/>
            <a:ext cx="5181600" cy="4210050"/>
          </a:xfrm>
          <a:prstGeom prst="roundRect">
            <a:avLst>
              <a:gd name="adj" fmla="val 31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6325" y="3133725"/>
            <a:ext cx="4552950" cy="1685925"/>
          </a:xfrm>
          <a:prstGeom prst="roundRect">
            <a:avLst>
              <a:gd name="adj" fmla="val 564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62725" y="3133725"/>
            <a:ext cx="4552950" cy="1685925"/>
          </a:xfrm>
          <a:prstGeom prst="roundRect">
            <a:avLst>
              <a:gd name="adj" fmla="val 564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81525" y="1771650"/>
            <a:ext cx="1047750" cy="219075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67925" y="1771650"/>
            <a:ext cx="1047750" cy="2190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076325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Advanced Rate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6010275"/>
            <a:ext cx="10382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Governance Standard: Use XIRR for actual fund track-records; use MIRR for corporate capital allocation.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Overcoming Flaws: XIRR &amp; MIRR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806" y="3362325"/>
            <a:ext cx="5233987" cy="1228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Actual Workbook Return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475569"/>
                </a:solidFill>
                <a:latin typeface="Plus Jakarta Sans"/>
              </a:rPr>
              <a:t>=XIRR(Values, Dates)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5048250"/>
            <a:ext cx="4648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Eliminates periodic interval distortions across private equity and project finance drawdowns.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2206" y="3362325"/>
            <a:ext cx="5233987" cy="1228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Modified Rate (Fin: 10% / Reinv: 12%)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475569"/>
                </a:solidFill>
                <a:latin typeface="Plus Jakarta Sans"/>
              </a:rPr>
              <a:t>=MIRR(Values, 0.10, 0.12)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5048250"/>
            <a:ext cx="4648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Completely resolves multi-root ambiguity (-9.59% vs 216%) into a single defensible hurdle metric.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2105025"/>
            <a:ext cx="597574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Excel Function: XIRR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2476500"/>
            <a:ext cx="46482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Standard IRR assumes equidistant compounding periods. XIRR computes annualized rate of return across real timestamps.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862" y="3648075"/>
            <a:ext cx="5095875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2563EB"/>
                </a:solidFill>
                <a:latin typeface="Space Grotesk"/>
              </a:rPr>
              <a:t>26.42%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2105025"/>
            <a:ext cx="56292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Excel Function: MIRR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2476500"/>
            <a:ext cx="46482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IRR erroneously assumes cash inflows are reinvested at the internal rate itself. MIRR uses realistic cost of debt and reinvestment yield.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262" y="3648075"/>
            <a:ext cx="5095875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16A34A"/>
                </a:solidFill>
                <a:latin typeface="Space Grotesk"/>
              </a:rPr>
              <a:t>7.00%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325" y="1804987"/>
            <a:ext cx="2714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IRREGULAR CASH FLOW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6775" y="1809750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Calendar Timed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1804987"/>
            <a:ext cx="2512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REINVESTMENT RE-ANCHORING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3175" y="1809750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Plus Jakarta Sans"/>
              </a:rPr>
              <a:t>Realistic WACC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838825"/>
            <a:ext cx="106680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840831"/>
            <a:ext cx="3403550" cy="1528762"/>
          </a:xfrm>
          <a:prstGeom prst="roundRect">
            <a:avLst>
              <a:gd name="adj" fmla="val 7476"/>
            </a:avLst>
          </a:prstGeom>
          <a:solidFill>
            <a:srgbClr val="131D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733675"/>
            <a:ext cx="3403550" cy="1743075"/>
          </a:xfrm>
          <a:prstGeom prst="roundRect">
            <a:avLst>
              <a:gd name="adj" fmla="val 6557"/>
            </a:avLst>
          </a:prstGeom>
          <a:solidFill>
            <a:srgbClr val="131D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840831"/>
            <a:ext cx="3403550" cy="1528762"/>
          </a:xfrm>
          <a:prstGeom prst="roundRect">
            <a:avLst>
              <a:gd name="adj" fmla="val 7476"/>
            </a:avLst>
          </a:prstGeom>
          <a:solidFill>
            <a:srgbClr val="131D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83882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6115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0763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Strategic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85825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8FAFC"/>
                </a:solidFill>
                <a:latin typeface="Space Grotesk"/>
              </a:rPr>
              <a:t>Actionable Governance &amp; Methodologies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67900" y="6076950"/>
            <a:ext cx="195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Space Grotesk"/>
              </a:rPr>
              <a:t>END OF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117056"/>
            <a:ext cx="3563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01 // Net Present Value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450431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When capital projects compete, prioritize absolute NPV over IRR percentage to maximize enterprise 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375" y="3009900"/>
            <a:ext cx="3563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02 // Strict Timing Conventions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0375" y="3343275"/>
            <a:ext cx="29463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Apply mid-year discounting for continuous industrial cash flows and XNPV/XIRR for contract milestone structures.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525" y="3117056"/>
            <a:ext cx="3563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03 // Liability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5" y="3450431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Structure commercial debts with period-end amortization to reduce PV outlay, tracking principal milestones via PPMT.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6076950"/>
            <a:ext cx="4119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Financial Analysis Project Documentation Completed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